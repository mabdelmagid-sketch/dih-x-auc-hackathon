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77777"/>
                </a:solidFill>
                <a:latin typeface="Consolas"/>
              </a:defRPr>
            </a:pPr>
            <a:r>
              <a:t>DIH x AUC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FFFFF"/>
                </a:solidFill>
                <a:latin typeface="Calibri"/>
              </a:defRPr>
            </a:pPr>
            <a:r>
              <a:t>FlowPOS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999999"/>
                </a:solidFill>
                <a:latin typeface="Calibri"/>
              </a:defRPr>
            </a:pPr>
            <a:r>
              <a:t>AI-Powered Demand Intelligence</a:t>
            </a:r>
            <a:br/>
            <a:r>
              <a:t>for Fresh Flow Markets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0" y="4937760"/>
            <a:ext cx="100584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21208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77777"/>
                </a:solidFill>
                <a:latin typeface="Consolas"/>
              </a:defRPr>
            </a:pPr>
            <a:r>
              <a:t>Solving the waste-vs-stockout dilemma across 100+ stores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640080"/>
            <a:ext cx="9966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77777"/>
                </a:solidFill>
                <a:latin typeface="Consola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966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000000"/>
                </a:solidFill>
                <a:latin typeface="Calibri"/>
              </a:defRPr>
            </a:pPr>
            <a:r>
              <a:t>Waste vs. Stockouts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8686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77777"/>
                </a:solidFill>
                <a:latin typeface="Calibri"/>
              </a:defRPr>
            </a:pPr>
            <a:r>
              <a:t>Fresh Flow Markets faces a dual economic pressure — overordering leads to spoilage costing DKK millions, while underordering means lost sales at 1.5x the item price.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834640"/>
            <a:ext cx="292608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00000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77777"/>
                </a:solidFill>
                <a:latin typeface="Consolas"/>
              </a:defRPr>
            </a:pPr>
            <a:r>
              <a:t>Stores across Denmark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834640"/>
            <a:ext cx="292608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301752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00000"/>
                </a:solidFill>
                <a:latin typeface="Calibri"/>
              </a:defRPr>
            </a:pPr>
            <a:r>
              <a:t>2M+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749039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77777"/>
                </a:solidFill>
                <a:latin typeface="Consolas"/>
              </a:defRPr>
            </a:pPr>
            <a:r>
              <a:t>Order items in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2834640"/>
            <a:ext cx="292608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301752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00000"/>
                </a:solidFill>
                <a:latin typeface="Calibri"/>
              </a:defRPr>
            </a:pPr>
            <a:r>
              <a:t>1,976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749039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77777"/>
                </a:solidFill>
                <a:latin typeface="Consolas"/>
              </a:defRPr>
            </a:pPr>
            <a:r>
              <a:t>Unique item-store pairs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572000"/>
            <a:ext cx="292608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7091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709160"/>
            <a:ext cx="21031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Gut-feeling ordering with no data-driven approach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572000"/>
            <a:ext cx="292608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7091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709160"/>
            <a:ext cx="21031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No adaptation for weather, holidays, or real-time context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4572000"/>
            <a:ext cx="292608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7091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00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709160"/>
            <a:ext cx="21031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000000"/>
                </a:solidFill>
                <a:latin typeface="Calibri"/>
              </a:defRPr>
            </a:pPr>
            <a:r>
              <a:t>Static par levels that ignore demand patterns and seasonality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966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77777"/>
                </a:solidFill>
                <a:latin typeface="Consolas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FFFFF"/>
                </a:solidFill>
                <a:latin typeface="Calibri"/>
              </a:defRPr>
            </a:pPr>
            <a:r>
              <a:t>One Platform.</a:t>
            </a:r>
            <a:br/>
            <a:r>
              <a:t>Three AI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8686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99999"/>
                </a:solidFill>
                <a:latin typeface="Calibri"/>
              </a:defRPr>
            </a:pPr>
            <a:r>
              <a:t>FlowPOS integrates a production-grade POS, ML forecasting engine, and LLM intelligence layer into a single platform that tells managers exactly what to prep — and why.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3017520" cy="292608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POS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24688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33 pages, 6 roles, 65+ permissions.</a:t>
            </a:r>
            <a:br/>
            <a:r>
              <a:t>Full checkout, KDS, inventory, loyalty,</a:t>
            </a:r>
            <a:br/>
            <a:r>
              <a:t>tables, reports — with offline-first PWA.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3108960"/>
            <a:ext cx="3017520" cy="292608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38328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ML Forecasting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931920"/>
            <a:ext cx="24688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3-model ensemble: XGBoost + LSTM +</a:t>
            </a:r>
            <a:br/>
            <a:r>
              <a:t>DeepSeek arbitration. 44 engineered</a:t>
            </a:r>
            <a:br/>
            <a:r>
              <a:t>features across time, weather, holidays.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3108960"/>
            <a:ext cx="3017520" cy="292608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338328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LLM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3931920"/>
            <a:ext cx="24688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88888"/>
                </a:solidFill>
                <a:latin typeface="Calibri"/>
              </a:defRPr>
            </a:pPr>
            <a:r>
              <a:t>DeepSeek v3.2 with 10 function-calling</a:t>
            </a:r>
            <a:br/>
            <a:r>
              <a:t>tools. Real-time context signals for</a:t>
            </a:r>
            <a:br/>
            <a:r>
              <a:t>per-item arbitration.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966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77777"/>
                </a:solidFill>
                <a:latin typeface="Consola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00000"/>
                </a:solidFill>
                <a:latin typeface="Calibri"/>
              </a:defRPr>
            </a:pPr>
            <a:r>
              <a:t>System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645920"/>
            <a:ext cx="3017520" cy="4389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Consolas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246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Next.js 15 + React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17520"/>
            <a:ext cx="24688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33 pages — App Router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22 Zustand stores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15 tRPC routers (43 endpoints)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Tailwind v4 + shadcn/ui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English + Arabic (RTL)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PWA + IndexedDB offline sync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017520" cy="4389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Consolas"/>
              </a:defRPr>
            </a:pPr>
            <a:r>
              <a:t>BACKEND /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46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FastAPI + DuckDB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17520"/>
            <a:ext cx="24688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18 async API routes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DuckDB in-memory (2M+ rows)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XGBoost + LSTM ensemble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44 engineered features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SSE streaming responses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DeepSeek v3.2 + 10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3017520" cy="4389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92024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Consolas"/>
              </a:defRPr>
            </a:pPr>
            <a: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2286000"/>
            <a:ext cx="246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Supabase + Railway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3017520"/>
            <a:ext cx="24688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Supabase PostgreSQL + RLS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Supabase Auth (email, PIN)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Supabase Realtime sync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Railway containerized deploy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Resend transactional email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888888"/>
                </a:solidFill>
                <a:latin typeface="Consolas"/>
              </a:defRPr>
            </a:pPr>
            <a:r>
              <a:t>Sentry error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966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77777"/>
                </a:solidFill>
                <a:latin typeface="Consolas"/>
              </a:defRPr>
            </a:pPr>
            <a:r>
              <a:t>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Production-Grade 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8229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88888"/>
                </a:solidFill>
                <a:latin typeface="Calibri"/>
              </a:defRPr>
            </a:pPr>
            <a:r>
              <a:t>A complete restaurant management system — not a prototype. Built for real-world operations from day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86000"/>
            <a:ext cx="3017520" cy="73152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POS Terminal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46120"/>
            <a:ext cx="3017520" cy="73152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4290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Kitchen Display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206240"/>
            <a:ext cx="3017520" cy="73152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3891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Inventory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166360"/>
            <a:ext cx="3017520" cy="73152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3492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Table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286000"/>
            <a:ext cx="3017520" cy="73152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46888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Employee &amp; Shifts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246120"/>
            <a:ext cx="3017520" cy="73152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4290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Loyalty &amp; Rewards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206240"/>
            <a:ext cx="3017520" cy="73152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3891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Reports &amp; 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5166360"/>
            <a:ext cx="3017520" cy="73152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53492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Coupons &amp; Promos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2286000"/>
            <a:ext cx="3017520" cy="73152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246888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Menu Engineering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3246120"/>
            <a:ext cx="3017520" cy="73152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342900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Multi-Location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4206240"/>
            <a:ext cx="3017520" cy="73152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438912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AI Forecasting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5166360"/>
            <a:ext cx="3017520" cy="73152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5349240"/>
            <a:ext cx="2468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6 Roles, 65+ Permissions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966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77777"/>
                </a:solidFill>
                <a:latin typeface="Consolas"/>
              </a:defRPr>
            </a:pPr>
            <a:r>
              <a:t>AI FORECASTING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00000"/>
                </a:solidFill>
                <a:latin typeface="Calibri"/>
              </a:defRPr>
            </a:pPr>
            <a:r>
              <a:t>3-Model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77777"/>
                </a:solidFill>
                <a:latin typeface="Calibri"/>
              </a:defRPr>
            </a:pPr>
            <a:r>
              <a:t>XGBoost captures demand spikes. LSTM learns sequential patterns across 2,604 items. DeepSeek arbitrates per-item using real-time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86000"/>
            <a:ext cx="3017520" cy="3840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246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2468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Calibri"/>
              </a:defRPr>
            </a:pPr>
            <a:r>
              <a:t>30% weight in hybrid blend. Trained on</a:t>
            </a:r>
            <a:br/>
            <a:r>
              <a:t>44 features — captures promotions,</a:t>
            </a:r>
            <a:br/>
            <a:r>
              <a:t>weather spikes, and calendar effects.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55"/>
                </a:solidFill>
                <a:latin typeface="Consolas"/>
              </a:defRPr>
            </a:pPr>
            <a:r>
              <a:t>GRADIENT BOOSTING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286000"/>
            <a:ext cx="3017520" cy="3840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108960"/>
            <a:ext cx="246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LSTM (RNN)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657600"/>
            <a:ext cx="2468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Calibri"/>
              </a:defRPr>
            </a:pPr>
            <a:r>
              <a:t>Unified model for 2,604 items. 2-layer</a:t>
            </a:r>
            <a:br/>
            <a:r>
              <a:t>LSTM (64→32) with delta-based prediction.</a:t>
            </a:r>
            <a:br/>
            <a:r>
              <a:t>Handles sparse data and new items.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530352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55"/>
                </a:solidFill>
                <a:latin typeface="Consolas"/>
              </a:defRPr>
            </a:pPr>
            <a:r>
              <a:t>DEEP LEARNING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2286000"/>
            <a:ext cx="3017520" cy="3840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246888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3108960"/>
            <a:ext cx="246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DeepSeek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3657600"/>
            <a:ext cx="2468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8888"/>
                </a:solidFill>
                <a:latin typeface="Calibri"/>
              </a:defRPr>
            </a:pPr>
            <a:r>
              <a:t>Arbitrates per-item: picks waste-optimized</a:t>
            </a:r>
            <a:br/>
            <a:r>
              <a:t>or stockout-optimized model based on</a:t>
            </a:r>
            <a:br/>
            <a:r>
              <a:t>perishability, weather, and events.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5303520"/>
            <a:ext cx="2468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55555"/>
                </a:solidFill>
                <a:latin typeface="Consolas"/>
              </a:defRPr>
            </a:pPr>
            <a:r>
              <a:t>CONTEXT ARBITRATION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966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77777"/>
                </a:solidFill>
                <a:latin typeface="Consolas"/>
              </a:defRPr>
            </a:pPr>
            <a:r>
              <a:t>44 ENGINEERED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Context-Aware</a:t>
            </a:r>
            <a:br/>
            <a:r>
              <a:t>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377440"/>
            <a:ext cx="2286000" cy="274320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56032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Consolas"/>
              </a:defRPr>
            </a:pPr>
            <a:r>
              <a:t>TIME &amp;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926080"/>
            <a:ext cx="1920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57600"/>
            <a:ext cx="19202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Calibri"/>
              </a:defRPr>
            </a:pPr>
            <a:r>
              <a:t>Day of week, month, quarter,</a:t>
            </a:r>
            <a:br/>
            <a:r>
              <a:t>is_weekend, is_friday, season,</a:t>
            </a:r>
            <a:br/>
            <a:r>
              <a:t>holidays, bridge days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377440"/>
            <a:ext cx="2286000" cy="274320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56032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Consolas"/>
              </a:defRPr>
            </a:pPr>
            <a:r>
              <a:t>LAG &amp; ROLLING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926080"/>
            <a:ext cx="1920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657600"/>
            <a:ext cx="19202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Calibri"/>
              </a:defRPr>
            </a:pPr>
            <a:r>
              <a:t>1d/7d/14d/28d lags, rolling</a:t>
            </a:r>
            <a:br/>
            <a:r>
              <a:t>mean &amp; std over 7/14/30 days,</a:t>
            </a:r>
            <a:br/>
            <a:r>
              <a:t>4-week weekday averages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377440"/>
            <a:ext cx="2286000" cy="274320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Consolas"/>
              </a:defRPr>
            </a:pPr>
            <a:r>
              <a:t>WEATHER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1920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657600"/>
            <a:ext cx="19202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Calibri"/>
              </a:defRPr>
            </a:pPr>
            <a:r>
              <a:t>Max/min temperature,</a:t>
            </a:r>
            <a:br/>
            <a:r>
              <a:t>precipitation mm, rain flag</a:t>
            </a:r>
            <a:br/>
            <a:r>
              <a:t>— via Open-Meteo free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2377440"/>
            <a:ext cx="2286000" cy="274320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56032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Consolas"/>
              </a:defRPr>
            </a:pPr>
            <a:r>
              <a:t>PROMOTIONS &amp;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926080"/>
            <a:ext cx="1920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657600"/>
            <a:ext cx="19202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8888"/>
                </a:solidFill>
                <a:latin typeface="Calibri"/>
              </a:defRPr>
            </a:pPr>
            <a:r>
              <a:t>Promos, campaigns, cyclical</a:t>
            </a:r>
            <a:br/>
            <a:r>
              <a:t>encodings, payday proximity,</a:t>
            </a:r>
            <a:br/>
            <a:r>
              <a:t>daylight hours, retail 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6928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555"/>
                </a:solidFill>
                <a:latin typeface="Consolas"/>
              </a:defRPr>
            </a:pPr>
            <a:r>
              <a:t>REAL-TIME SIGNALS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5577840"/>
            <a:ext cx="1280160" cy="36576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56235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Weather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5577840"/>
            <a:ext cx="1280160" cy="36576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56235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Holidays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5577840"/>
            <a:ext cx="1280160" cy="36576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56235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Daylight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5577840"/>
            <a:ext cx="1280160" cy="36576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56235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Payday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5577840"/>
            <a:ext cx="1280160" cy="36576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562356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Consolas"/>
              </a:defRPr>
            </a:pPr>
            <a:r>
              <a:t>Retail Events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966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77777"/>
                </a:solidFill>
                <a:latin typeface="Consolas"/>
              </a:defRPr>
            </a:pPr>
            <a:r>
              <a:t>LLM INTELLIGENCE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00000"/>
                </a:solidFill>
                <a:latin typeface="Calibri"/>
              </a:defRPr>
            </a:pPr>
            <a:r>
              <a:t>DeepSeek + 10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8686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77777"/>
                </a:solidFill>
                <a:latin typeface="Calibri"/>
              </a:defRPr>
            </a:pPr>
            <a:r>
              <a:t>Manager asks a question → LLM calls tools → fetches context → queries models → arbitrates per item → returns structured prep recommendations with risk flags.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377440"/>
            <a:ext cx="45720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45059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Consolas"/>
              </a:defRPr>
            </a:pPr>
            <a:r>
              <a:t>query_inventory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880360"/>
            <a:ext cx="45720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95351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Consolas"/>
              </a:defRPr>
            </a:pPr>
            <a:r>
              <a:t>get_sales_history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383280"/>
            <a:ext cx="45720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45643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Consolas"/>
              </a:defRPr>
            </a:pPr>
            <a:r>
              <a:t>get_forecast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886200"/>
            <a:ext cx="45720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95935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Consolas"/>
              </a:defRPr>
            </a:pPr>
            <a:r>
              <a:t>get_dual_forecast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389120"/>
            <a:ext cx="45720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46227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Consolas"/>
              </a:defRPr>
            </a:pPr>
            <a:r>
              <a:t>get_context_signals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377440"/>
            <a:ext cx="45720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45059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Consolas"/>
              </a:defRPr>
            </a:pPr>
            <a:r>
              <a:t>get_low_stock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880360"/>
            <a:ext cx="45720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95351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Consolas"/>
              </a:defRPr>
            </a:pPr>
            <a:r>
              <a:t>get_expiring_items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383280"/>
            <a:ext cx="45720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45643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Consolas"/>
              </a:defRPr>
            </a:pPr>
            <a:r>
              <a:t>get_top_sellers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886200"/>
            <a:ext cx="45720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95935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Consolas"/>
              </a:defRPr>
            </a:pPr>
            <a:r>
              <a:t>get_bill_of_materials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4389120"/>
            <a:ext cx="457200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4462272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Consolas"/>
              </a:defRPr>
            </a:pPr>
            <a:r>
              <a:t>run_sql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20640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Consolas"/>
              </a:defRPr>
            </a:pPr>
            <a:r>
              <a:t>AI PERSONAS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5029200"/>
            <a:ext cx="141732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5093208"/>
            <a:ext cx="1417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onsolas"/>
              </a:defRPr>
            </a:pPr>
            <a:r>
              <a:t>Chat Assistant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5029200"/>
            <a:ext cx="141732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5093208"/>
            <a:ext cx="1417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onsolas"/>
              </a:defRPr>
            </a:pPr>
            <a:r>
              <a:t>Inventory Analyst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5029200"/>
            <a:ext cx="141732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5093208"/>
            <a:ext cx="1417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onsolas"/>
              </a:defRPr>
            </a:pPr>
            <a:r>
              <a:t>Anomaly Explainer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5029200"/>
            <a:ext cx="141732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5093208"/>
            <a:ext cx="1417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onsolas"/>
              </a:defRPr>
            </a:pPr>
            <a:r>
              <a:t>Promo Strategist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5029200"/>
            <a:ext cx="141732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5093208"/>
            <a:ext cx="1417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onsolas"/>
              </a:defRPr>
            </a:pPr>
            <a:r>
              <a:t>Scenario Simulator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1280" y="5029200"/>
            <a:ext cx="141732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0" y="5093208"/>
            <a:ext cx="1417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Consolas"/>
              </a:defRPr>
            </a:pPr>
            <a:r>
              <a:t>Daily Briefing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966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77777"/>
                </a:solidFill>
                <a:latin typeface="Consolas"/>
              </a:defRPr>
            </a:pPr>
            <a:r>
              <a:t>RESULTS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9966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FFFFFF"/>
                </a:solidFill>
                <a:latin typeface="Calibri"/>
              </a:defRPr>
            </a:pPr>
            <a:r>
              <a:t>27.8% Cost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8686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88888"/>
                </a:solidFill>
                <a:latin typeface="Calibri"/>
              </a:defRPr>
            </a:pPr>
            <a:r>
              <a:t>Measured against the worst baseline over a 93-day test period across 101 stores. Business-cost metric: waste DKK + 1.5x stockout DKK.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651760"/>
            <a:ext cx="2286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67.7%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Consolas"/>
              </a:defRPr>
            </a:pPr>
            <a:r>
              <a:t>Forecast Accuracy (WMAPE)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651760"/>
            <a:ext cx="2286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8346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38.1%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5204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Consolas"/>
              </a:defRPr>
            </a:pPr>
            <a:r>
              <a:t>Balanced Forecast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651760"/>
            <a:ext cx="2286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8346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15.5M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5204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Consolas"/>
              </a:defRPr>
            </a:pPr>
            <a:r>
              <a:t>DKK Total Cost (optimized)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2651760"/>
            <a:ext cx="2286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834640"/>
            <a:ext cx="2286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5204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Consolas"/>
              </a:defRPr>
            </a:pPr>
            <a:r>
              <a:t>Days Test Period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8912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555"/>
                </a:solidFill>
                <a:latin typeface="Consolas"/>
              </a:defRPr>
            </a:pPr>
            <a:r>
              <a:t>MODEL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297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Balanced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663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Consolas"/>
              </a:defRPr>
            </a:pPr>
            <a:r>
              <a:t>30% XGB + 70% MA7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297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Waste-Optimized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663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Consolas"/>
              </a:defRPr>
            </a:pPr>
            <a:r>
              <a:t>85% of balanced (15% shrink)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297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LSTM Unified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663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Consolas"/>
              </a:defRPr>
            </a:pPr>
            <a:r>
              <a:t>2,604 items, 1.04 MAE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4297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32 Configs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4663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Consolas"/>
              </a:defRPr>
            </a:pPr>
            <a:r>
              <a:t>Grid search evaluated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77777"/>
                </a:solidFill>
                <a:latin typeface="Consolas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7600"/>
              </a:lnSpc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000000"/>
                </a:solidFill>
                <a:latin typeface="Calibri"/>
              </a:defRPr>
            </a:pPr>
            <a:r>
              <a:t>Let's See It</a:t>
            </a:r>
            <a:br/>
            <a:r>
              <a:t>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3566160"/>
            <a:ext cx="100584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4023360"/>
            <a:ext cx="630936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0" y="4096512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onsolas"/>
              </a:defRPr>
            </a:pPr>
            <a:r>
              <a:t>POS Frontend — pos-frontend-production-56bb.up.railway.app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4709160"/>
            <a:ext cx="6309360" cy="54864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4782312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Consolas"/>
              </a:defRPr>
            </a:pPr>
            <a:r>
              <a:t>Forecasting API — hopeful-elegance-production-c09a.up.railway.app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57784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99999"/>
                </a:solidFill>
                <a:latin typeface="Consolas"/>
              </a:defRPr>
            </a:pPr>
            <a:r>
              <a:t>Both services are live and deployed on Railway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77777"/>
                </a:solidFill>
                <a:latin typeface="Consolas"/>
              </a:defRPr>
            </a:pPr>
            <a:r>
              <a:t>DIH x AUC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3474720"/>
            <a:ext cx="100584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888888"/>
                </a:solidFill>
                <a:latin typeface="Calibri"/>
              </a:defRPr>
            </a:pPr>
            <a:r>
              <a:t>FlowPOS — AI-Powered Demand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9687" y="44805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9687" y="49377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Consolas"/>
              </a:defRPr>
            </a:pPr>
            <a:r>
              <a:t>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2727" y="45720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9927" y="44805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9927" y="49377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Consolas"/>
              </a:defRPr>
            </a:pPr>
            <a: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2967" y="45720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4805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49377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Consolas"/>
              </a:defRPr>
            </a:pPr>
            <a:r>
              <a:t>LLM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3207" y="457200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407" y="44805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407" y="49377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Consolas"/>
              </a:defRPr>
            </a:pPr>
            <a:r>
              <a:t>AI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57784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55555"/>
                </a:solidFill>
                <a:latin typeface="Consolas"/>
              </a:defRPr>
            </a:pPr>
            <a:r>
              <a:t>AUC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